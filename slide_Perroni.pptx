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notesMasterIdLst>
    <p:notesMasterId r:id="rId7"/>
  </p:notesMasterIdLst>
  <p:handoutMasterIdLst>
    <p:handoutMasterId r:id="rId8"/>
  </p:handoutMasterIdLst>
  <p:sldIdLst>
    <p:sldId id="722" r:id="rId3"/>
    <p:sldId id="1026" r:id="rId4"/>
    <p:sldId id="1029" r:id="rId5"/>
    <p:sldId id="1028" r:id="rId6"/>
  </p:sldIdLst>
  <p:sldSz cx="9144000" cy="6858000" type="screen4x3"/>
  <p:notesSz cx="7099300" cy="10234613"/>
  <p:defaultTextStyle>
    <a:defPPr>
      <a:defRPr lang="it-IT"/>
    </a:defPPr>
    <a:lvl1pPr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5pPr>
    <a:lvl6pPr marL="22860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6pPr>
    <a:lvl7pPr marL="27432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7pPr>
    <a:lvl8pPr marL="32004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8pPr>
    <a:lvl9pPr marL="3657600" algn="l" defTabSz="914400" rtl="0" eaLnBrk="1" latinLnBrk="0" hangingPunct="1">
      <a:defRPr sz="4000" kern="1200">
        <a:solidFill>
          <a:schemeClr val="bg1"/>
        </a:solidFill>
        <a:latin typeface="Franklin Gothic Heavy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0033CC"/>
    <a:srgbClr val="006699"/>
    <a:srgbClr val="000066"/>
    <a:srgbClr val="0066FF"/>
    <a:srgbClr val="0066CC"/>
    <a:srgbClr val="E3E3FF"/>
    <a:srgbClr val="9999FF"/>
    <a:srgbClr val="99CC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98" autoAdjust="0"/>
    <p:restoredTop sz="98757" autoAdjust="0"/>
  </p:normalViewPr>
  <p:slideViewPr>
    <p:cSldViewPr>
      <p:cViewPr varScale="1">
        <p:scale>
          <a:sx n="82" d="100"/>
          <a:sy n="82" d="100"/>
        </p:scale>
        <p:origin x="1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961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1818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58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C1B76BBF-8223-4799-95C3-859F065E8F8C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684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40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2513"/>
            <a:ext cx="5680075" cy="460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solidFill>
                  <a:schemeClr val="tx1"/>
                </a:solidFill>
                <a:latin typeface="Arial" charset="0"/>
              </a:defRPr>
            </a:lvl1pPr>
          </a:lstStyle>
          <a:p>
            <a:pPr>
              <a:defRPr/>
            </a:pPr>
            <a:fld id="{2C11F25B-D58C-4A79-8AD6-38119B174837}" type="slidenum">
              <a:rPr lang="it-IT"/>
              <a:pPr>
                <a:defRPr/>
              </a:pPr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47068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89013"/>
            <a:fld id="{364B05ED-9CA2-4935-8602-1081F943AF8B}" type="slidenum">
              <a:rPr lang="it-IT" smtClean="0"/>
              <a:pPr defTabSz="989013"/>
              <a:t>1</a:t>
            </a:fld>
            <a:endParaRPr lang="it-IT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832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C11F25B-D58C-4A79-8AD6-38119B174837}" type="slidenum">
              <a:rPr lang="it-IT" smtClean="0"/>
              <a:pPr>
                <a:defRPr/>
              </a:pPr>
              <a:t>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9737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 userDrawn="1"/>
        </p:nvSpPr>
        <p:spPr bwMode="auto">
          <a:xfrm>
            <a:off x="323850" y="4048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20713"/>
            <a:ext cx="7772400" cy="2087562"/>
          </a:xfrm>
          <a:effectLst>
            <a:outerShdw dist="35921" dir="2700000" algn="ctr" rotWithShape="0">
              <a:schemeClr val="bg2">
                <a:alpha val="50000"/>
              </a:schemeClr>
            </a:outerShdw>
          </a:effectLst>
        </p:spPr>
        <p:txBody>
          <a:bodyPr/>
          <a:lstStyle>
            <a:lvl1pPr algn="ctr">
              <a:defRPr>
                <a:latin typeface="Franklin Gothic Demi" pitchFamily="34" charset="0"/>
              </a:defRPr>
            </a:lvl1pPr>
          </a:lstStyle>
          <a:p>
            <a:r>
              <a:rPr lang="it-IT"/>
              <a:t>Energy-efficient Data Collection in Wireless Sensor Networks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3284538"/>
            <a:ext cx="8064500" cy="3240087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100"/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27584" y="44450"/>
            <a:ext cx="7344866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it-IT" dirty="0"/>
              <a:t>Fare clic per modificare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3" y="-14395"/>
            <a:ext cx="791310" cy="807796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 bwMode="auto">
          <a:xfrm>
            <a:off x="8172450" y="0"/>
            <a:ext cx="954087" cy="95408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40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Franklin Gothic Heavy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8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5382" y="61285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3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 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2982" y="5976169"/>
            <a:ext cx="705139" cy="64370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715125" y="44450"/>
            <a:ext cx="2178050" cy="6697663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179388" y="44450"/>
            <a:ext cx="6383337" cy="6697663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olo e contenuto sopra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olo e testo sopra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8642350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250825" y="3937000"/>
            <a:ext cx="8642350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olo, testo e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lipArt 3"/>
          <p:cNvSpPr>
            <a:spLocks noGrp="1"/>
          </p:cNvSpPr>
          <p:nvPr>
            <p:ph type="clipArt" sz="half" idx="2"/>
          </p:nvPr>
        </p:nvSpPr>
        <p:spPr>
          <a:xfrm>
            <a:off x="4648200" y="981075"/>
            <a:ext cx="4244975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olo, contenu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250825" y="981075"/>
            <a:ext cx="4244975" cy="57610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abella 2"/>
          <p:cNvSpPr>
            <a:spLocks noGrp="1"/>
          </p:cNvSpPr>
          <p:nvPr>
            <p:ph type="tbl" idx="1"/>
          </p:nvPr>
        </p:nvSpPr>
        <p:spPr>
          <a:xfrm>
            <a:off x="250825" y="981075"/>
            <a:ext cx="8642350" cy="5761038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olo e  contenu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sz="quarter"/>
          </p:nvPr>
        </p:nvSpPr>
        <p:spPr>
          <a:xfrm>
            <a:off x="179388" y="44450"/>
            <a:ext cx="7993062" cy="7207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quarter" idx="1"/>
          </p:nvPr>
        </p:nvSpPr>
        <p:spPr>
          <a:xfrm>
            <a:off x="250825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48200" y="981075"/>
            <a:ext cx="4244975" cy="2803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250825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8200" y="3937000"/>
            <a:ext cx="4244975" cy="280511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piè di pagina 3"/>
          <p:cNvSpPr txBox="1">
            <a:spLocks/>
          </p:cNvSpPr>
          <p:nvPr userDrawn="1"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IEEE 802.15.4e: a Building Block for the Internet of Things</a:t>
            </a:r>
            <a:r>
              <a:rPr lang="en-US" sz="1100" dirty="0">
                <a:latin typeface="Calibri" panose="020F0502020204030204" pitchFamily="34" charset="0"/>
              </a:rPr>
              <a:t>							</a:t>
            </a:r>
            <a:fld id="{337BAA41-9988-4011-ACAC-72357787D6F3}" type="slidenum">
              <a:rPr lang="en-US" sz="1100" smtClean="0">
                <a:latin typeface="Calibri" panose="020F0502020204030204" pitchFamily="34" charset="0"/>
              </a:rPr>
              <a:t>‹#›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>
            <a:spLocks noChangeArrowheads="1"/>
          </p:cNvSpPr>
          <p:nvPr userDrawn="1"/>
        </p:nvSpPr>
        <p:spPr bwMode="auto">
          <a:xfrm>
            <a:off x="323850" y="1052513"/>
            <a:ext cx="8496300" cy="2592387"/>
          </a:xfrm>
          <a:prstGeom prst="roundRect">
            <a:avLst>
              <a:gd name="adj" fmla="val 6986"/>
            </a:avLst>
          </a:prstGeom>
          <a:solidFill>
            <a:srgbClr val="000080">
              <a:alpha val="8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5" name="AutoShape 5"/>
          <p:cNvSpPr>
            <a:spLocks noChangeArrowheads="1"/>
          </p:cNvSpPr>
          <p:nvPr userDrawn="1"/>
        </p:nvSpPr>
        <p:spPr bwMode="auto">
          <a:xfrm>
            <a:off x="539750" y="4292600"/>
            <a:ext cx="8064500" cy="1860550"/>
          </a:xfrm>
          <a:prstGeom prst="roundRect">
            <a:avLst>
              <a:gd name="adj" fmla="val 6986"/>
            </a:avLst>
          </a:prstGeom>
          <a:solidFill>
            <a:schemeClr val="bg1">
              <a:alpha val="7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/>
          </a:p>
        </p:txBody>
      </p:sp>
      <p:sp>
        <p:nvSpPr>
          <p:cNvPr id="1198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8313" y="1268413"/>
            <a:ext cx="8135937" cy="2160587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84213" y="4424363"/>
            <a:ext cx="7127875" cy="1655762"/>
          </a:xfrm>
        </p:spPr>
        <p:txBody>
          <a:bodyPr anchor="ctr"/>
          <a:lstStyle>
            <a:lvl1pPr marL="0" indent="0" algn="ctr">
              <a:buFont typeface="Wingdings" pitchFamily="2" charset="2"/>
              <a:buNone/>
              <a:defRPr sz="2800">
                <a:latin typeface="Franklin Gothic Medium Cond" pitchFamily="34" charset="0"/>
              </a:defRPr>
            </a:lvl1pPr>
          </a:lstStyle>
          <a:p>
            <a:r>
              <a:rPr lang="it-IT"/>
              <a:t>Fare clic per modificare lo stile del sottotitolo dello schema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9577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63119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63119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Freeform 27"/>
          <p:cNvSpPr>
            <a:spLocks/>
          </p:cNvSpPr>
          <p:nvPr userDrawn="1"/>
        </p:nvSpPr>
        <p:spPr bwMode="auto">
          <a:xfrm>
            <a:off x="-36513" y="-26988"/>
            <a:ext cx="8280401" cy="793751"/>
          </a:xfrm>
          <a:custGeom>
            <a:avLst/>
            <a:gdLst/>
            <a:ahLst/>
            <a:cxnLst>
              <a:cxn ang="0">
                <a:pos x="4990" y="499"/>
              </a:cxn>
              <a:cxn ang="0">
                <a:pos x="0" y="499"/>
              </a:cxn>
              <a:cxn ang="0">
                <a:pos x="0" y="0"/>
              </a:cxn>
              <a:cxn ang="0">
                <a:pos x="5063" y="5"/>
              </a:cxn>
              <a:cxn ang="0">
                <a:pos x="5219" y="5"/>
              </a:cxn>
              <a:cxn ang="0">
                <a:pos x="4990" y="497"/>
              </a:cxn>
              <a:cxn ang="0">
                <a:pos x="4988" y="497"/>
              </a:cxn>
              <a:cxn ang="0">
                <a:pos x="4990" y="499"/>
              </a:cxn>
            </a:cxnLst>
            <a:rect l="0" t="0" r="r" b="b"/>
            <a:pathLst>
              <a:path w="5275" h="500">
                <a:moveTo>
                  <a:pt x="4990" y="499"/>
                </a:moveTo>
                <a:lnTo>
                  <a:pt x="0" y="499"/>
                </a:lnTo>
                <a:lnTo>
                  <a:pt x="0" y="0"/>
                </a:lnTo>
                <a:lnTo>
                  <a:pt x="5063" y="5"/>
                </a:lnTo>
                <a:lnTo>
                  <a:pt x="5219" y="5"/>
                </a:lnTo>
                <a:cubicBezTo>
                  <a:pt x="5207" y="87"/>
                  <a:pt x="5275" y="491"/>
                  <a:pt x="4990" y="497"/>
                </a:cubicBezTo>
                <a:cubicBezTo>
                  <a:pt x="4987" y="500"/>
                  <a:pt x="4988" y="497"/>
                  <a:pt x="4988" y="497"/>
                </a:cubicBezTo>
                <a:cubicBezTo>
                  <a:pt x="4988" y="497"/>
                  <a:pt x="4990" y="499"/>
                  <a:pt x="4990" y="499"/>
                </a:cubicBezTo>
                <a:close/>
              </a:path>
            </a:pathLst>
          </a:custGeom>
          <a:solidFill>
            <a:srgbClr val="000080">
              <a:alpha val="70000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it-IT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981075"/>
            <a:ext cx="8642350" cy="5761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44450"/>
            <a:ext cx="7993062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Fare clic per modificare lo stile del titolo</a:t>
            </a:r>
          </a:p>
        </p:txBody>
      </p:sp>
      <p:grpSp>
        <p:nvGrpSpPr>
          <p:cNvPr id="24581" name="Group 33"/>
          <p:cNvGrpSpPr>
            <a:grpSpLocks/>
          </p:cNvGrpSpPr>
          <p:nvPr userDrawn="1"/>
        </p:nvGrpSpPr>
        <p:grpSpPr bwMode="auto">
          <a:xfrm>
            <a:off x="8243888" y="0"/>
            <a:ext cx="762000" cy="960438"/>
            <a:chOff x="4656" y="672"/>
            <a:chExt cx="480" cy="605"/>
          </a:xfrm>
        </p:grpSpPr>
        <p:grpSp>
          <p:nvGrpSpPr>
            <p:cNvPr id="24583" name="Group 34"/>
            <p:cNvGrpSpPr>
              <a:grpSpLocks/>
            </p:cNvGrpSpPr>
            <p:nvPr/>
          </p:nvGrpSpPr>
          <p:grpSpPr bwMode="auto">
            <a:xfrm>
              <a:off x="4656" y="672"/>
              <a:ext cx="480" cy="576"/>
              <a:chOff x="5280" y="0"/>
              <a:chExt cx="480" cy="576"/>
            </a:xfrm>
          </p:grpSpPr>
          <p:pic>
            <p:nvPicPr>
              <p:cNvPr id="24585" name="Picture 35" descr="images-3"/>
              <p:cNvPicPr>
                <a:picLocks noChangeAspect="1" noChangeArrowheads="1"/>
              </p:cNvPicPr>
              <p:nvPr/>
            </p:nvPicPr>
            <p:blipFill>
              <a:blip r:embed="rId20" cstate="print"/>
              <a:srcRect/>
              <a:stretch>
                <a:fillRect/>
              </a:stretch>
            </p:blipFill>
            <p:spPr bwMode="auto">
              <a:xfrm>
                <a:off x="5280" y="0"/>
                <a:ext cx="480" cy="4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60" name="Rectangle 36"/>
              <p:cNvSpPr>
                <a:spLocks noChangeArrowheads="1"/>
              </p:cNvSpPr>
              <p:nvPr/>
            </p:nvSpPr>
            <p:spPr bwMode="auto">
              <a:xfrm>
                <a:off x="5280" y="480"/>
                <a:ext cx="480" cy="96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it-IT"/>
              </a:p>
            </p:txBody>
          </p:sp>
        </p:grpSp>
        <p:sp>
          <p:nvSpPr>
            <p:cNvPr id="1061" name="Text Box 37"/>
            <p:cNvSpPr txBox="1">
              <a:spLocks noChangeArrowheads="1"/>
            </p:cNvSpPr>
            <p:nvPr/>
          </p:nvSpPr>
          <p:spPr bwMode="auto">
            <a:xfrm>
              <a:off x="4656" y="1104"/>
              <a:ext cx="4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lang="en-US" sz="300" b="1">
                  <a:solidFill>
                    <a:srgbClr val="003366"/>
                  </a:solidFill>
                  <a:latin typeface="Courier New" pitchFamily="49" charset="0"/>
                </a:rPr>
                <a:t> </a:t>
              </a:r>
              <a:r>
                <a:rPr lang="en-US" sz="1200" b="1">
                  <a:solidFill>
                    <a:srgbClr val="000080"/>
                  </a:solidFill>
                  <a:latin typeface="Courier New" pitchFamily="49" charset="0"/>
                </a:rPr>
                <a:t>PerLab</a:t>
              </a:r>
            </a:p>
          </p:txBody>
        </p:sp>
      </p:grpSp>
      <p:sp>
        <p:nvSpPr>
          <p:cNvPr id="10" name="Rectangle 39"/>
          <p:cNvSpPr>
            <a:spLocks noChangeArrowheads="1"/>
          </p:cNvSpPr>
          <p:nvPr userDrawn="1"/>
        </p:nvSpPr>
        <p:spPr bwMode="auto">
          <a:xfrm>
            <a:off x="0" y="6669088"/>
            <a:ext cx="9144000" cy="18891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5" r:id="rId1"/>
    <p:sldLayoutId id="2147484756" r:id="rId2"/>
    <p:sldLayoutId id="2147484731" r:id="rId3"/>
    <p:sldLayoutId id="2147484757" r:id="rId4"/>
    <p:sldLayoutId id="2147484732" r:id="rId5"/>
    <p:sldLayoutId id="2147484758" r:id="rId6"/>
    <p:sldLayoutId id="2147484733" r:id="rId7"/>
    <p:sldLayoutId id="2147484734" r:id="rId8"/>
    <p:sldLayoutId id="2147484735" r:id="rId9"/>
    <p:sldLayoutId id="2147484736" r:id="rId10"/>
    <p:sldLayoutId id="2147484737" r:id="rId11"/>
    <p:sldLayoutId id="2147484738" r:id="rId12"/>
    <p:sldLayoutId id="2147484739" r:id="rId13"/>
    <p:sldLayoutId id="2147484740" r:id="rId14"/>
    <p:sldLayoutId id="2147484741" r:id="rId15"/>
    <p:sldLayoutId id="2147484742" r:id="rId16"/>
    <p:sldLayoutId id="2147484743" r:id="rId17"/>
    <p:sldLayoutId id="2147484744" r:id="rId18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tabLst>
          <a:tab pos="7897813" algn="r"/>
          <a:tab pos="8613775" algn="r"/>
        </a:tabLst>
        <a:defRPr sz="4000">
          <a:solidFill>
            <a:schemeClr val="bg1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Wingdings" pitchFamily="2" charset="2"/>
        <a:buChar char="§"/>
        <a:defRPr sz="2600">
          <a:solidFill>
            <a:schemeClr val="tx1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200">
          <a:solidFill>
            <a:schemeClr val="tx1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Sommario</a:t>
            </a:r>
          </a:p>
        </p:txBody>
      </p:sp>
      <p:sp>
        <p:nvSpPr>
          <p:cNvPr id="25603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95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59" r:id="rId1"/>
    <p:sldLayoutId id="2147484745" r:id="rId2"/>
    <p:sldLayoutId id="2147484746" r:id="rId3"/>
    <p:sldLayoutId id="2147484747" r:id="rId4"/>
    <p:sldLayoutId id="2147484748" r:id="rId5"/>
    <p:sldLayoutId id="2147484749" r:id="rId6"/>
    <p:sldLayoutId id="2147484750" r:id="rId7"/>
    <p:sldLayoutId id="2147484751" r:id="rId8"/>
    <p:sldLayoutId id="2147484752" r:id="rId9"/>
    <p:sldLayoutId id="2147484753" r:id="rId10"/>
    <p:sldLayoutId id="214748475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rgbClr val="000080"/>
          </a:solidFill>
          <a:latin typeface="Franklin Gothic Demi Cond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93750" indent="-271463" algn="l" rtl="0" eaLnBrk="0" fontAlgn="base" hangingPunct="0">
        <a:spcBef>
          <a:spcPct val="20000"/>
        </a:spcBef>
        <a:spcAft>
          <a:spcPct val="0"/>
        </a:spcAft>
        <a:buClr>
          <a:srgbClr val="006666"/>
        </a:buClr>
        <a:buFont typeface="Wingdings" pitchFamily="2" charset="2"/>
        <a:buChar char="§"/>
        <a:defRPr sz="2800">
          <a:solidFill>
            <a:schemeClr val="hlink"/>
          </a:solidFill>
          <a:latin typeface="+mn-lt"/>
        </a:defRPr>
      </a:lvl2pPr>
      <a:lvl3pPr marL="1436688" indent="-363538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ð"/>
        <a:defRPr sz="2400">
          <a:solidFill>
            <a:schemeClr val="hlink"/>
          </a:solidFill>
          <a:latin typeface="+mn-lt"/>
        </a:defRPr>
      </a:lvl3pPr>
      <a:lvl4pPr marL="1844675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hlink"/>
          </a:solidFill>
          <a:latin typeface="+mn-lt"/>
        </a:defRPr>
      </a:lvl4pPr>
      <a:lvl5pPr marL="2252663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5pPr>
      <a:lvl6pPr marL="27098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6pPr>
      <a:lvl7pPr marL="31670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7pPr>
      <a:lvl8pPr marL="36242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8pPr>
      <a:lvl9pPr marL="4081463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hlink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23528" y="404665"/>
            <a:ext cx="8496944" cy="2606782"/>
          </a:xfrm>
          <a:effectLst>
            <a:outerShdw dist="35921" dir="2700000" algn="ctr" rotWithShape="0">
              <a:schemeClr val="tx2">
                <a:alpha val="50000"/>
              </a:schemeClr>
            </a:outerShdw>
          </a:effectLst>
        </p:spPr>
        <p:txBody>
          <a:bodyPr/>
          <a:lstStyle/>
          <a:p>
            <a:r>
              <a:rPr lang="en-GB" dirty="0" err="1"/>
              <a:t>Progettazione</a:t>
            </a:r>
            <a:r>
              <a:rPr lang="en-GB" dirty="0"/>
              <a:t> e </a:t>
            </a:r>
            <a:r>
              <a:rPr lang="en-GB" dirty="0" err="1"/>
              <a:t>realizzazione</a:t>
            </a:r>
            <a:r>
              <a:rPr lang="en-GB" dirty="0"/>
              <a:t> di </a:t>
            </a:r>
            <a:r>
              <a:rPr lang="en-GB" dirty="0" err="1"/>
              <a:t>una</a:t>
            </a:r>
            <a:r>
              <a:rPr lang="en-GB" dirty="0"/>
              <a:t> dashboard per il </a:t>
            </a:r>
            <a:r>
              <a:rPr lang="en-GB" dirty="0" err="1"/>
              <a:t>monitoraggio</a:t>
            </a:r>
            <a:r>
              <a:rPr lang="en-GB" dirty="0"/>
              <a:t> di rete</a:t>
            </a:r>
          </a:p>
        </p:txBody>
      </p:sp>
      <p:pic>
        <p:nvPicPr>
          <p:cNvPr id="31748" name="Picture 34" descr="marchio_unipi_pant541_28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11364" y="5445224"/>
            <a:ext cx="1920875" cy="102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19"/>
          <p:cNvSpPr>
            <a:spLocks noGrp="1" noChangeArrowheads="1"/>
          </p:cNvSpPr>
          <p:nvPr>
            <p:ph type="subTitle" idx="1"/>
          </p:nvPr>
        </p:nvSpPr>
        <p:spPr>
          <a:xfrm>
            <a:off x="539552" y="3284984"/>
            <a:ext cx="8064500" cy="1812776"/>
          </a:xfrm>
        </p:spPr>
        <p:txBody>
          <a:bodyPr anchor="b"/>
          <a:lstStyle/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2800" b="1" dirty="0">
              <a:latin typeface="Calibri" panose="020F0502020204030204" pitchFamily="34" charset="0"/>
            </a:endParaRPr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8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  <a:p>
            <a:pPr algn="ctr">
              <a:lnSpc>
                <a:spcPct val="90000"/>
              </a:lnSpc>
            </a:pPr>
            <a:endParaRPr lang="en-US" altLang="it-IT" sz="1600" dirty="0"/>
          </a:p>
        </p:txBody>
      </p:sp>
      <p:sp>
        <p:nvSpPr>
          <p:cNvPr id="2" name="TextBox 1"/>
          <p:cNvSpPr txBox="1"/>
          <p:nvPr/>
        </p:nvSpPr>
        <p:spPr>
          <a:xfrm>
            <a:off x="2126934" y="3098680"/>
            <a:ext cx="4889737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600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Tesi di Laurea in </a:t>
            </a:r>
          </a:p>
          <a:p>
            <a:r>
              <a:rPr lang="it-IT" dirty="0">
                <a:solidFill>
                  <a:srgbClr val="003366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Ingegneria Informatica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488" y="4634101"/>
            <a:ext cx="15238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Candidato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Asia Perroni</a:t>
            </a:r>
            <a:endParaRPr lang="it-IT" sz="28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84168" y="4591403"/>
            <a:ext cx="2952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b="1" dirty="0">
                <a:solidFill>
                  <a:srgbClr val="003366"/>
                </a:solidFill>
                <a:latin typeface="Calibri" panose="020F0502020204030204" pitchFamily="34" charset="0"/>
              </a:rPr>
              <a:t>Relatori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Prof. Enzo Mingozzi</a:t>
            </a:r>
          </a:p>
          <a:p>
            <a:pPr marL="87313" algn="just"/>
            <a:r>
              <a:rPr lang="it-IT" sz="2000" dirty="0">
                <a:solidFill>
                  <a:srgbClr val="003366"/>
                </a:solidFill>
                <a:latin typeface="Calibri" panose="020F0502020204030204" pitchFamily="34" charset="0"/>
              </a:rPr>
              <a:t>Prof. Antonio Virdis</a:t>
            </a:r>
            <a:endParaRPr lang="it-IT" sz="2800" dirty="0">
              <a:solidFill>
                <a:srgbClr val="003366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Introduzione e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0825" y="919531"/>
            <a:ext cx="8642350" cy="5761038"/>
          </a:xfrm>
        </p:spPr>
        <p:txBody>
          <a:bodyPr/>
          <a:lstStyle/>
          <a:p>
            <a:r>
              <a:rPr lang="it-IT" dirty="0"/>
              <a:t>Per organizzazioni e imprese che fanno affidamento su una rete proprietaria, monitorarne lo stato di salute è fondamentale per garantire qualità e accessibilità continua a prodotti e servizi</a:t>
            </a:r>
          </a:p>
          <a:p>
            <a:r>
              <a:rPr lang="it-IT" dirty="0"/>
              <a:t>Problema</a:t>
            </a:r>
          </a:p>
          <a:p>
            <a:pPr lvl="1"/>
            <a:r>
              <a:rPr lang="it-IT" dirty="0"/>
              <a:t>Come monitorare un’infrastruttura di rete in tempo reale senza accedere singolarmente ad ogni dispositivo?</a:t>
            </a:r>
          </a:p>
          <a:p>
            <a:pPr lvl="1"/>
            <a:r>
              <a:rPr lang="it-IT" dirty="0"/>
              <a:t>Quali sono i parametri che devo osservare per stabilire «se è tutto ok»?</a:t>
            </a:r>
          </a:p>
          <a:p>
            <a:pPr lvl="1"/>
            <a:r>
              <a:rPr lang="it-IT" dirty="0"/>
              <a:t>Quanto mi costa?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Asia Perroni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2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4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11352-8E51-5231-BF80-A8D3301D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0B192-21EF-BEF0-51DC-67DC0309A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Soluzioni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2314F3-4C0F-A7B1-4197-FE9D18321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Exporter</a:t>
            </a:r>
            <a:endParaRPr lang="it-IT" dirty="0"/>
          </a:p>
          <a:p>
            <a:pPr lvl="1"/>
            <a:r>
              <a:rPr lang="it-IT" dirty="0"/>
              <a:t>Lettura automatizzata dai dispositivi di parametri di sistema e configurazioni</a:t>
            </a:r>
          </a:p>
          <a:p>
            <a:r>
              <a:rPr lang="it-IT" dirty="0"/>
              <a:t>Server </a:t>
            </a:r>
            <a:r>
              <a:rPr lang="it-IT" dirty="0" err="1"/>
              <a:t>Prometheus</a:t>
            </a:r>
            <a:endParaRPr lang="it-IT" dirty="0"/>
          </a:p>
          <a:p>
            <a:pPr lvl="1"/>
            <a:r>
              <a:rPr lang="it-IT" i="1" dirty="0" err="1"/>
              <a:t>Scrape</a:t>
            </a:r>
            <a:r>
              <a:rPr lang="it-IT" i="1" dirty="0"/>
              <a:t> </a:t>
            </a:r>
            <a:r>
              <a:rPr lang="it-IT" dirty="0"/>
              <a:t>periodico (~15s) delle metriche dagli </a:t>
            </a:r>
            <a:r>
              <a:rPr lang="it-IT" dirty="0" err="1"/>
              <a:t>exporter</a:t>
            </a:r>
            <a:endParaRPr lang="it-IT" dirty="0"/>
          </a:p>
          <a:p>
            <a:pPr lvl="1"/>
            <a:r>
              <a:rPr lang="it-IT" dirty="0"/>
              <a:t>Conservazione di time </a:t>
            </a:r>
            <a:r>
              <a:rPr lang="it-IT" dirty="0" err="1"/>
              <a:t>series</a:t>
            </a:r>
            <a:r>
              <a:rPr lang="it-IT" dirty="0"/>
              <a:t> in un TSDB centralizzato</a:t>
            </a:r>
          </a:p>
          <a:p>
            <a:pPr lvl="1"/>
            <a:r>
              <a:rPr lang="it-IT" dirty="0"/>
              <a:t>API HTTP per query da remoto</a:t>
            </a:r>
          </a:p>
          <a:p>
            <a:r>
              <a:rPr lang="it-IT" dirty="0" err="1"/>
              <a:t>Grafana</a:t>
            </a:r>
            <a:endParaRPr lang="it-IT" dirty="0"/>
          </a:p>
          <a:p>
            <a:pPr lvl="1"/>
            <a:r>
              <a:rPr lang="it-IT" dirty="0"/>
              <a:t>Invia query al server </a:t>
            </a:r>
            <a:r>
              <a:rPr lang="it-IT" dirty="0" err="1"/>
              <a:t>Prometheus</a:t>
            </a:r>
            <a:endParaRPr lang="it-IT" dirty="0"/>
          </a:p>
          <a:p>
            <a:pPr lvl="1"/>
            <a:r>
              <a:rPr lang="it-IT" dirty="0"/>
              <a:t>Interfaccia intuitiva per la realizzazione di grafici</a:t>
            </a:r>
          </a:p>
          <a:p>
            <a:pPr lvl="1"/>
            <a:r>
              <a:rPr lang="it-IT" dirty="0"/>
              <a:t>Flessibilità nella rappresentazione dei dati</a:t>
            </a:r>
          </a:p>
          <a:p>
            <a:pPr lvl="1"/>
            <a:endParaRPr lang="it-IT" dirty="0"/>
          </a:p>
          <a:p>
            <a:pPr marL="522287" lvl="1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F3B3F4D-9CED-1439-6142-8CD82A52B9E9}"/>
              </a:ext>
            </a:extLst>
          </p:cNvPr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Asia Perroni 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3</a:t>
            </a:fld>
            <a:endParaRPr lang="it-IT" sz="1100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8078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Risultati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Pipeline di monitoraggio con strumenti open source</a:t>
            </a:r>
          </a:p>
          <a:p>
            <a:pPr marL="522287" lvl="1" indent="0">
              <a:buNone/>
            </a:pPr>
            <a:endParaRPr lang="it-IT" dirty="0"/>
          </a:p>
          <a:p>
            <a:pPr lvl="1"/>
            <a:endParaRPr lang="it-IT" dirty="0"/>
          </a:p>
          <a:p>
            <a:pPr marL="0" indent="0">
              <a:buNone/>
            </a:pPr>
            <a:endParaRPr lang="it-IT" dirty="0"/>
          </a:p>
          <a:p>
            <a:pPr lvl="1"/>
            <a:r>
              <a:rPr lang="it-IT" dirty="0"/>
              <a:t>Informazioni organizzate visivamente in modo coerente</a:t>
            </a:r>
          </a:p>
          <a:p>
            <a:pPr lvl="2"/>
            <a:r>
              <a:rPr lang="it-IT" dirty="0"/>
              <a:t>OSPF, </a:t>
            </a:r>
            <a:r>
              <a:rPr lang="it-IT" dirty="0" err="1"/>
              <a:t>NICs</a:t>
            </a:r>
            <a:r>
              <a:rPr lang="it-IT" dirty="0"/>
              <a:t>, CPU, RAM</a:t>
            </a:r>
          </a:p>
          <a:p>
            <a:pPr lvl="1"/>
            <a:r>
              <a:rPr lang="it-IT" dirty="0"/>
              <a:t>Malfunzionamenti e utilizzazione inefficiente delle risorse velocemente rilevabili</a:t>
            </a:r>
          </a:p>
          <a:p>
            <a:pPr lvl="1"/>
            <a:endParaRPr lang="it-IT" dirty="0"/>
          </a:p>
        </p:txBody>
      </p:sp>
      <p:sp>
        <p:nvSpPr>
          <p:cNvPr id="4" name="Segnaposto piè di pagina 3"/>
          <p:cNvSpPr txBox="1">
            <a:spLocks/>
          </p:cNvSpPr>
          <p:nvPr/>
        </p:nvSpPr>
        <p:spPr bwMode="auto">
          <a:xfrm>
            <a:off x="17463" y="6624638"/>
            <a:ext cx="9126537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/>
            <a:r>
              <a:rPr lang="en-US" sz="1100" i="1" dirty="0">
                <a:latin typeface="Calibri" panose="020F0502020204030204" pitchFamily="34" charset="0"/>
              </a:rPr>
              <a:t>Asia Perroni </a:t>
            </a:r>
            <a:r>
              <a:rPr lang="en-US" sz="1100" dirty="0">
                <a:latin typeface="Calibri" panose="020F0502020204030204" pitchFamily="34" charset="0"/>
              </a:rPr>
              <a:t>								</a:t>
            </a:r>
            <a:fld id="{9EA84853-51C7-4A16-B21A-2D25E6B14CA2}" type="slidenum">
              <a:rPr lang="en-US" sz="1100" smtClean="0">
                <a:latin typeface="Calibri" panose="020F0502020204030204" pitchFamily="34" charset="0"/>
              </a:rPr>
              <a:t>4</a:t>
            </a:fld>
            <a:endParaRPr lang="it-IT" sz="1100" dirty="0"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36377-7F62-54A0-BD14-218B5C162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22" y="1826718"/>
            <a:ext cx="8100417" cy="9542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992FC3-8F0F-78A6-8D8C-0EBDF0B070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5013176"/>
            <a:ext cx="4993000" cy="14665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8A8AAF-914D-F337-8E1C-6F2775D799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7502"/>
          <a:stretch>
            <a:fillRect/>
          </a:stretch>
        </p:blipFill>
        <p:spPr>
          <a:xfrm>
            <a:off x="6228184" y="5013176"/>
            <a:ext cx="2069131" cy="107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636026"/>
      </p:ext>
    </p:extLst>
  </p:cSld>
  <p:clrMapOvr>
    <a:masterClrMapping/>
  </p:clrMapOvr>
</p:sld>
</file>

<file path=ppt/theme/theme1.xml><?xml version="1.0" encoding="utf-8"?>
<a:theme xmlns:a="http://schemas.openxmlformats.org/drawingml/2006/main" name="Struttura predefinita">
  <a:themeElements>
    <a:clrScheme name="Struttura predefinita 14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009999"/>
      </a:hlink>
      <a:folHlink>
        <a:srgbClr val="006666"/>
      </a:folHlink>
    </a:clrScheme>
    <a:fontScheme name="Struttura predefinita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utline">
  <a:themeElements>
    <a:clrScheme name="Outline 1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61CB96"/>
      </a:accent1>
      <a:accent2>
        <a:srgbClr val="008080"/>
      </a:accent2>
      <a:accent3>
        <a:srgbClr val="FFFFFF"/>
      </a:accent3>
      <a:accent4>
        <a:srgbClr val="000000"/>
      </a:accent4>
      <a:accent5>
        <a:srgbClr val="B7E2C9"/>
      </a:accent5>
      <a:accent6>
        <a:srgbClr val="007373"/>
      </a:accent6>
      <a:hlink>
        <a:srgbClr val="4D4D4D"/>
      </a:hlink>
      <a:folHlink>
        <a:srgbClr val="006666"/>
      </a:folHlink>
    </a:clrScheme>
    <a:fontScheme name="Outline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Franklin Gothic Heavy" pitchFamily="34" charset="0"/>
          </a:defRPr>
        </a:defPPr>
      </a:lstStyle>
    </a:lnDef>
  </a:objectDefaults>
  <a:extraClrSchemeLst>
    <a:extraClrScheme>
      <a:clrScheme name="Outlin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utline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006666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005C5C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009999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tline 1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1CB96"/>
        </a:accent1>
        <a:accent2>
          <a:srgbClr val="008080"/>
        </a:accent2>
        <a:accent3>
          <a:srgbClr val="FFFFFF"/>
        </a:accent3>
        <a:accent4>
          <a:srgbClr val="000000"/>
        </a:accent4>
        <a:accent5>
          <a:srgbClr val="B7E2C9"/>
        </a:accent5>
        <a:accent6>
          <a:srgbClr val="007373"/>
        </a:accent6>
        <a:hlink>
          <a:srgbClr val="4D4D4D"/>
        </a:hlink>
        <a:folHlink>
          <a:srgbClr val="0066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utline 14">
    <a:dk1>
      <a:srgbClr val="000000"/>
    </a:dk1>
    <a:lt1>
      <a:srgbClr val="FFFFFF"/>
    </a:lt1>
    <a:dk2>
      <a:srgbClr val="000000"/>
    </a:dk2>
    <a:lt2>
      <a:srgbClr val="808080"/>
    </a:lt2>
    <a:accent1>
      <a:srgbClr val="61CB96"/>
    </a:accent1>
    <a:accent2>
      <a:srgbClr val="008080"/>
    </a:accent2>
    <a:accent3>
      <a:srgbClr val="FFFFFF"/>
    </a:accent3>
    <a:accent4>
      <a:srgbClr val="000000"/>
    </a:accent4>
    <a:accent5>
      <a:srgbClr val="B7E2C9"/>
    </a:accent5>
    <a:accent6>
      <a:srgbClr val="007373"/>
    </a:accent6>
    <a:hlink>
      <a:srgbClr val="009999"/>
    </a:hlink>
    <a:folHlink>
      <a:srgbClr val="0066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30919</TotalTime>
  <Words>215</Words>
  <Application>Microsoft Office PowerPoint</Application>
  <PresentationFormat>On-screen Show (4:3)</PresentationFormat>
  <Paragraphs>52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5" baseType="lpstr">
      <vt:lpstr>Arial</vt:lpstr>
      <vt:lpstr>Calibri</vt:lpstr>
      <vt:lpstr>Courier New</vt:lpstr>
      <vt:lpstr>Franklin Gothic Demi</vt:lpstr>
      <vt:lpstr>Franklin Gothic Demi Cond</vt:lpstr>
      <vt:lpstr>Franklin Gothic Heavy</vt:lpstr>
      <vt:lpstr>Franklin Gothic Medium</vt:lpstr>
      <vt:lpstr>Franklin Gothic Medium Cond</vt:lpstr>
      <vt:lpstr>Wingdings</vt:lpstr>
      <vt:lpstr>Struttura predefinita</vt:lpstr>
      <vt:lpstr>Outline</vt:lpstr>
      <vt:lpstr>Progettazione e realizzazione di una dashboard per il monitoraggio di rete</vt:lpstr>
      <vt:lpstr>Introduzione e Problema</vt:lpstr>
      <vt:lpstr>Soluzioni</vt:lpstr>
      <vt:lpstr>Risultati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Progetto e valutazione di un protocollo di power management per reti di sensori</dc:title>
  <dc:creator>Mdf</dc:creator>
  <cp:lastModifiedBy>Asia Perroni</cp:lastModifiedBy>
  <cp:revision>1215</cp:revision>
  <cp:lastPrinted>2016-05-24T07:18:58Z</cp:lastPrinted>
  <dcterms:created xsi:type="dcterms:W3CDTF">2005-03-30T13:34:00Z</dcterms:created>
  <dcterms:modified xsi:type="dcterms:W3CDTF">2026-10-06T10:45:39Z</dcterms:modified>
</cp:coreProperties>
</file>