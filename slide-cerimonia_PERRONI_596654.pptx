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notesMasterIdLst>
    <p:notesMasterId r:id="rId6"/>
  </p:notesMasterIdLst>
  <p:sldIdLst>
    <p:sldId id="278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94725"/>
  </p:normalViewPr>
  <p:slideViewPr>
    <p:cSldViewPr snapToGrid="0">
      <p:cViewPr varScale="1">
        <p:scale>
          <a:sx n="78" d="100"/>
          <a:sy n="78" d="100"/>
        </p:scale>
        <p:origin x="8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83589-15D9-4CFE-9B4B-26AE81DF1623}" type="datetimeFigureOut">
              <a:rPr lang="it-IT" smtClean="0"/>
              <a:t>04/10/2026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E6542-C006-42EB-AFFB-A9CDF48A32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92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B3B3-A6A2-BC87-F24A-FCDAC006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053531-B6CD-0E58-7CB8-450EF6CEE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93070B-D336-9CC0-1BD3-F6E35443B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896797-ABC5-FA07-8A36-1880EF26D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EE60B4-5E75-47B1-8ECC-4F5809CE13DE}" type="slidenum">
              <a:rPr kumimoji="0" lang="it-IT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32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6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3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9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0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4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  <a:alpha val="5000"/>
              </a:schemeClr>
            </a:gs>
            <a:gs pos="0">
              <a:schemeClr val="accent1">
                <a:lumMod val="60000"/>
                <a:lumOff val="40000"/>
              </a:schemeClr>
            </a:gs>
            <a:gs pos="41500">
              <a:srgbClr val="D3E0EF"/>
            </a:gs>
            <a:gs pos="22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30000"/>
                <a:lumOff val="70000"/>
              </a:schemeClr>
            </a:gs>
          </a:gsLst>
          <a:lin ang="72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44798-13C3-747D-9808-390B3EBE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8D8F3F0F-988C-A4B8-3D3D-30EE3C9EF7F0}"/>
              </a:ext>
            </a:extLst>
          </p:cNvPr>
          <p:cNvSpPr/>
          <p:nvPr/>
        </p:nvSpPr>
        <p:spPr>
          <a:xfrm rot="-5400000">
            <a:off x="2675991" y="3644434"/>
            <a:ext cx="221229" cy="557321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799ECB-C74C-DB50-A4C1-13747899E1B9}"/>
              </a:ext>
            </a:extLst>
          </p:cNvPr>
          <p:cNvGrpSpPr/>
          <p:nvPr/>
        </p:nvGrpSpPr>
        <p:grpSpPr>
          <a:xfrm rot="-10800000">
            <a:off x="6348813" y="0"/>
            <a:ext cx="5843187" cy="4124189"/>
            <a:chOff x="0" y="0"/>
            <a:chExt cx="6350000" cy="633984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0EC3BE-D028-7183-536E-19056397432B}"/>
                </a:ext>
              </a:extLst>
            </p:cNvPr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</p:grpSp>
      <p:pic>
        <p:nvPicPr>
          <p:cNvPr id="6" name="Picture 6">
            <a:extLst>
              <a:ext uri="{FF2B5EF4-FFF2-40B4-BE49-F238E27FC236}">
                <a16:creationId xmlns:a16="http://schemas.microsoft.com/office/drawing/2014/main" id="{031D1590-DB0D-000E-58CA-6C13522E4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65999"/>
          </a:blip>
          <a:srcRect/>
          <a:stretch>
            <a:fillRect/>
          </a:stretch>
        </p:blipFill>
        <p:spPr>
          <a:xfrm rot="2113473">
            <a:off x="9457791" y="1241140"/>
            <a:ext cx="2391368" cy="1641307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46280B4-BDCA-3E99-C076-0A8FAB70636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 rot="12935635">
            <a:off x="8485418" y="1091822"/>
            <a:ext cx="2137901" cy="1068951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DAAA78A-B0FA-82B9-8499-BDC63818EE6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395891" y="1169232"/>
            <a:ext cx="1749032" cy="1785725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5356C89E-543C-E4AB-BF9E-192DECC7B2F1}"/>
              </a:ext>
            </a:extLst>
          </p:cNvPr>
          <p:cNvSpPr/>
          <p:nvPr/>
        </p:nvSpPr>
        <p:spPr>
          <a:xfrm rot="-5400000">
            <a:off x="3325708" y="-2375208"/>
            <a:ext cx="45719" cy="669713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5BDEC7C-8487-3467-5645-2A9DDAE41909}"/>
              </a:ext>
            </a:extLst>
          </p:cNvPr>
          <p:cNvGrpSpPr/>
          <p:nvPr/>
        </p:nvGrpSpPr>
        <p:grpSpPr>
          <a:xfrm>
            <a:off x="6208692" y="2585628"/>
            <a:ext cx="5542805" cy="3295564"/>
            <a:chOff x="0" y="-28575"/>
            <a:chExt cx="11085609" cy="6591128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979251B-6D21-E938-F1CF-52E717CFB1C7}"/>
                </a:ext>
              </a:extLst>
            </p:cNvPr>
            <p:cNvSpPr txBox="1"/>
            <p:nvPr/>
          </p:nvSpPr>
          <p:spPr>
            <a:xfrm>
              <a:off x="0" y="-2857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22FFEE9-482B-9DC3-8079-A02832324604}"/>
                </a:ext>
              </a:extLst>
            </p:cNvPr>
            <p:cNvSpPr txBox="1"/>
            <p:nvPr/>
          </p:nvSpPr>
          <p:spPr>
            <a:xfrm>
              <a:off x="0" y="238469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2B5D6F7-3AED-1707-435C-3CBE95212055}"/>
                </a:ext>
              </a:extLst>
            </p:cNvPr>
            <p:cNvSpPr txBox="1"/>
            <p:nvPr/>
          </p:nvSpPr>
          <p:spPr>
            <a:xfrm>
              <a:off x="0" y="5904167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00A9B49-C8CF-9297-61EA-BD7F4A2730FD}"/>
              </a:ext>
            </a:extLst>
          </p:cNvPr>
          <p:cNvSpPr txBox="1"/>
          <p:nvPr/>
        </p:nvSpPr>
        <p:spPr>
          <a:xfrm>
            <a:off x="5618967" y="4327037"/>
            <a:ext cx="6392703" cy="733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000"/>
              </a:lnSpc>
            </a:pPr>
            <a:endParaRPr lang="en-US" sz="8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  <a:p>
            <a:pPr defTabSz="609630">
              <a:lnSpc>
                <a:spcPts val="3000"/>
              </a:lnSpc>
            </a:pPr>
            <a:endParaRPr lang="en-US" sz="20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asellaDiTesto 3">
            <a:extLst>
              <a:ext uri="{FF2B5EF4-FFF2-40B4-BE49-F238E27FC236}">
                <a16:creationId xmlns:a16="http://schemas.microsoft.com/office/drawing/2014/main" id="{7BCAA5B0-34C2-66B9-F559-E01900BE7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55" y="256643"/>
            <a:ext cx="88339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2800" b="1" dirty="0"/>
              <a:t>Corso di </a:t>
            </a:r>
            <a:r>
              <a:rPr lang="en-GB" sz="2800" b="1" dirty="0" err="1"/>
              <a:t>laurea</a:t>
            </a:r>
            <a:r>
              <a:rPr lang="en-GB" sz="2800" b="1" dirty="0"/>
              <a:t> in </a:t>
            </a:r>
            <a:r>
              <a:rPr lang="en-GB" sz="2800" b="1" dirty="0" err="1"/>
              <a:t>Ingegneria</a:t>
            </a:r>
            <a:r>
              <a:rPr lang="en-GB" sz="2800" b="1" dirty="0"/>
              <a:t> Informatica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772E4EB-1B4C-90AD-8224-CE95B3EB0397}"/>
              </a:ext>
            </a:extLst>
          </p:cNvPr>
          <p:cNvSpPr txBox="1"/>
          <p:nvPr/>
        </p:nvSpPr>
        <p:spPr>
          <a:xfrm>
            <a:off x="220435" y="3053669"/>
            <a:ext cx="51724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latin typeface="Century Gothic" panose="020B0502020202020204" pitchFamily="34" charset="0"/>
              </a:rPr>
              <a:t>•  </a:t>
            </a:r>
            <a:r>
              <a:rPr lang="it-IT" sz="1500" b="1" dirty="0"/>
              <a:t>Obiettivo</a:t>
            </a:r>
            <a:r>
              <a:rPr lang="it-IT" sz="1500" dirty="0"/>
              <a:t>: costruire e configurare un sistema per monitorare in tempo reale lo «stato di salute» dei dispositivi di rete.</a:t>
            </a:r>
          </a:p>
          <a:p>
            <a:r>
              <a:rPr lang="it-IT" sz="1500" dirty="0">
                <a:latin typeface="Century Gothic" panose="020B0502020202020204" pitchFamily="34" charset="0"/>
              </a:rPr>
              <a:t>•  </a:t>
            </a:r>
            <a:r>
              <a:rPr lang="it-IT" sz="1500" b="1" dirty="0"/>
              <a:t>Parametri da monitorare</a:t>
            </a:r>
            <a:r>
              <a:rPr lang="it-IT" sz="1500" dirty="0"/>
              <a:t>: utilizzazione risorse (CPU, RAM e </a:t>
            </a:r>
            <a:r>
              <a:rPr lang="it-IT" sz="1500" dirty="0" err="1"/>
              <a:t>NICs</a:t>
            </a:r>
            <a:r>
              <a:rPr lang="it-IT" sz="1500" dirty="0"/>
              <a:t>) e stato del protocollo OSPF.</a:t>
            </a:r>
          </a:p>
          <a:p>
            <a:r>
              <a:rPr lang="it-IT" sz="1500" dirty="0">
                <a:latin typeface="Century Gothic" panose="020B0502020202020204" pitchFamily="34" charset="0"/>
              </a:rPr>
              <a:t>•  </a:t>
            </a:r>
            <a:r>
              <a:rPr lang="it-IT" sz="1500" b="1" dirty="0"/>
              <a:t>Procedimento</a:t>
            </a:r>
            <a:r>
              <a:rPr lang="it-IT" sz="1500" dirty="0"/>
              <a:t>: la rete è emulata con </a:t>
            </a:r>
            <a:r>
              <a:rPr lang="it-IT" sz="1500" dirty="0" err="1"/>
              <a:t>Containerlab</a:t>
            </a:r>
            <a:r>
              <a:rPr lang="it-IT" sz="1500" dirty="0"/>
              <a:t>. Un server </a:t>
            </a:r>
            <a:r>
              <a:rPr lang="it-IT" sz="1500" dirty="0" err="1"/>
              <a:t>Prometheus</a:t>
            </a:r>
            <a:r>
              <a:rPr lang="it-IT" sz="1500" dirty="0"/>
              <a:t> legge periodicamente le metriche di interesse dai router, ottenute tramite software detti «</a:t>
            </a:r>
            <a:r>
              <a:rPr lang="it-IT" sz="1500" dirty="0" err="1"/>
              <a:t>exporter</a:t>
            </a:r>
            <a:r>
              <a:rPr lang="it-IT" sz="1500" dirty="0"/>
              <a:t>»; i valori vengono salvati in un DB centralizzato e associati all’istante di lettura, dando luogo </a:t>
            </a:r>
            <a:r>
              <a:rPr lang="it-IT" sz="1500"/>
              <a:t>a delle serie temporali. </a:t>
            </a:r>
            <a:r>
              <a:rPr lang="it-IT" sz="1500" dirty="0"/>
              <a:t>La dashboard è realizzata tramite piattaforma </a:t>
            </a:r>
            <a:r>
              <a:rPr lang="it-IT" sz="1500" dirty="0" err="1"/>
              <a:t>Grafana</a:t>
            </a:r>
            <a:r>
              <a:rPr lang="it-IT" sz="1500" dirty="0"/>
              <a:t>, che mantiene aggiornati i grafici eseguendo periodicamente sul DB le query configurate.</a:t>
            </a:r>
          </a:p>
          <a:p>
            <a:r>
              <a:rPr lang="it-IT" sz="1500" dirty="0">
                <a:latin typeface="Century Gothic" panose="020B0502020202020204" pitchFamily="34" charset="0"/>
              </a:rPr>
              <a:t>•  </a:t>
            </a:r>
            <a:r>
              <a:rPr lang="it-IT" sz="1500" b="1" dirty="0">
                <a:latin typeface="Century Gothic" panose="020B0502020202020204" pitchFamily="34" charset="0"/>
              </a:rPr>
              <a:t>R</a:t>
            </a:r>
            <a:r>
              <a:rPr lang="it-IT" sz="1500" b="1" dirty="0"/>
              <a:t>isultati</a:t>
            </a:r>
            <a:r>
              <a:rPr lang="it-IT" sz="1500" dirty="0"/>
              <a:t>: dai test emerge che anche alcuni malfunzionamenti normalmente difficili da individuare possono essere localizzati rapidamente tramite l’osservazione la dashboard.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4BC13A7-5109-05E6-7EC9-999CA159BB25}"/>
              </a:ext>
            </a:extLst>
          </p:cNvPr>
          <p:cNvSpPr txBox="1"/>
          <p:nvPr/>
        </p:nvSpPr>
        <p:spPr>
          <a:xfrm>
            <a:off x="170094" y="1541403"/>
            <a:ext cx="8693912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i="1" dirty="0" err="1"/>
              <a:t>Prova</a:t>
            </a:r>
            <a:r>
              <a:rPr lang="en-GB" sz="2000" b="1" i="1" dirty="0"/>
              <a:t> finale</a:t>
            </a:r>
          </a:p>
          <a:p>
            <a:r>
              <a:rPr lang="it-IT" sz="2000" b="1" dirty="0"/>
              <a:t>Progettazione e realizzazione di una dashboard per il monitoraggio di rete</a:t>
            </a:r>
            <a:endParaRPr lang="en-GB" sz="2000" b="1" dirty="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75E7A223-DF7A-CFAB-5CBB-BABEF5CAD3DF}"/>
              </a:ext>
            </a:extLst>
          </p:cNvPr>
          <p:cNvSpPr/>
          <p:nvPr/>
        </p:nvSpPr>
        <p:spPr>
          <a:xfrm rot="16200000" flipH="1">
            <a:off x="2740972" y="253861"/>
            <a:ext cx="91265" cy="5573213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/>
          </a:p>
        </p:txBody>
      </p:sp>
      <p:sp>
        <p:nvSpPr>
          <p:cNvPr id="15" name="CasellaDiTesto 3">
            <a:extLst>
              <a:ext uri="{FF2B5EF4-FFF2-40B4-BE49-F238E27FC236}">
                <a16:creationId xmlns:a16="http://schemas.microsoft.com/office/drawing/2014/main" id="{3BE41EF7-ACDD-7A54-9180-F5A0C3FB2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96" y="1026611"/>
            <a:ext cx="6073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2800" b="1" dirty="0" err="1"/>
              <a:t>Laureato</a:t>
            </a:r>
            <a:r>
              <a:rPr lang="en-GB" sz="2800" b="1" dirty="0"/>
              <a:t>: </a:t>
            </a:r>
            <a:r>
              <a:rPr lang="en-GB" sz="2800" b="1" dirty="0" err="1"/>
              <a:t>Dott.ssa</a:t>
            </a:r>
            <a:r>
              <a:rPr lang="en-GB" sz="2800" b="1" dirty="0"/>
              <a:t> Asia Perroni</a:t>
            </a:r>
          </a:p>
        </p:txBody>
      </p:sp>
      <p:sp>
        <p:nvSpPr>
          <p:cNvPr id="20" name="CasellaDiTesto 3">
            <a:extLst>
              <a:ext uri="{FF2B5EF4-FFF2-40B4-BE49-F238E27FC236}">
                <a16:creationId xmlns:a16="http://schemas.microsoft.com/office/drawing/2014/main" id="{769C18EF-5366-51F0-07AD-1F1D24CA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42" y="2599707"/>
            <a:ext cx="4968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b="1" dirty="0" err="1"/>
              <a:t>Relatori</a:t>
            </a:r>
            <a:r>
              <a:rPr lang="en-GB" b="1" dirty="0"/>
              <a:t>: Prof. </a:t>
            </a:r>
            <a:r>
              <a:rPr lang="en-GB" b="1" dirty="0" err="1"/>
              <a:t>Mingozzi</a:t>
            </a:r>
            <a:r>
              <a:rPr lang="en-GB" b="1" dirty="0"/>
              <a:t> Enzo, Prof. Virdis Antonio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B25271-5FA2-0153-75A2-7BE116414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4208" y="3431104"/>
            <a:ext cx="6468382" cy="241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6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DAC3ED0EBB8B4F9FE54EF51318C557" ma:contentTypeVersion="4" ma:contentTypeDescription="Create a new document." ma:contentTypeScope="" ma:versionID="7e005ef059e69192172a5c7396b466fc">
  <xsd:schema xmlns:xsd="http://www.w3.org/2001/XMLSchema" xmlns:xs="http://www.w3.org/2001/XMLSchema" xmlns:p="http://schemas.microsoft.com/office/2006/metadata/properties" xmlns:ns2="b8f38329-fe82-4838-8fdd-4280d7b6e94e" targetNamespace="http://schemas.microsoft.com/office/2006/metadata/properties" ma:root="true" ma:fieldsID="424c390e64b462513100b9a7e084c2fa" ns2:_="">
    <xsd:import namespace="b8f38329-fe82-4838-8fdd-4280d7b6e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f38329-fe82-4838-8fdd-4280d7b6e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3E8510-347C-488F-90AC-6506B782AE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f38329-fe82-4838-8fdd-4280d7b6e9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8BE7BF-29D8-4C20-8A32-3787C90044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7CD499-5F4A-42A5-8068-7C4C58B63BD9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b8f38329-fe82-4838-8fdd-4280d7b6e94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176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Monica Puccini</dc:creator>
  <cp:lastModifiedBy>Asia Perroni</cp:lastModifiedBy>
  <cp:revision>29</cp:revision>
  <dcterms:created xsi:type="dcterms:W3CDTF">2023-06-19T11:45:48Z</dcterms:created>
  <dcterms:modified xsi:type="dcterms:W3CDTF">2026-10-04T18:52:29Z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0x01010075DAC3ED0EBB8B4F9FE54EF51318C557</vt:lpwstr>
  </property>
</Properties>
</file>